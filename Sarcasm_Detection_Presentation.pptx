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up" id="{18854C57-C53A-865B-6B83-B102E9970892}">
          <p14:sldIdLst>
            <p14:sldId id="256"/>
            <p14:sldId id="257"/>
            <p14:sldId id="258"/>
          </p14:sldIdLst>
        </p14:section>
        <p14:section name="Models" id="{A636971D-DA04-87D9-8E06-79B79B848E8F}">
          <p14:sldIdLst>
            <p14:sldId id="259"/>
          </p14:sldIdLst>
        </p14:section>
        <p14:section name="Results" id="{B8BDEED7-4B75-1161-C81D-3A7B5781564E}">
          <p14:sldIdLst>
            <p14:sldId id="260"/>
            <p14:sldId id="261"/>
          </p14:sldIdLst>
        </p14:section>
        <p14:section name="Audit" id="{28A6373B-B612-3DB3-052C-04DDE8829F4E}">
          <p14:sldIdLst>
            <p14:sldId id="262"/>
            <p14:sldId id="263"/>
          </p14:sldIdLst>
        </p14:section>
        <p14:section name="Wrap-up" id="{8F15FC22-60BD-DD3D-F3AB-C048293B86F5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en-GB" sz="1300" b="0" i="0" u="none" strike="noStrike">
                <a:solidFill>
                  <a:srgbClr val="000000"/>
                </a:solidFill>
                <a:latin typeface="+mn-lt"/>
              </a:rPr>
              <a:t>Test-set scores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6BA6D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0.79700000000000004</c:v>
                </c:pt>
                <c:pt idx="1">
                  <c:v>0.79</c:v>
                </c:pt>
                <c:pt idx="2">
                  <c:v>0.76900000000000002</c:v>
                </c:pt>
                <c:pt idx="3">
                  <c:v>0.77900000000000003</c:v>
                </c:pt>
                <c:pt idx="4">
                  <c:v>0.878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60-40E2-BFC7-BD67D6CBC7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DistilBERT</c:v>
                </c:pt>
              </c:strCache>
            </c:strRef>
          </c:tx>
          <c:spPr>
            <a:solidFill>
              <a:srgbClr val="E0457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</c:v>
                </c:pt>
                <c:pt idx="1">
                  <c:v>0.92300000000000004</c:v>
                </c:pt>
                <c:pt idx="2">
                  <c:v>0.90300000000000002</c:v>
                </c:pt>
                <c:pt idx="3">
                  <c:v>0.91300000000000003</c:v>
                </c:pt>
                <c:pt idx="4">
                  <c:v>0.97799999999999998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60-40E2-BFC7-BD67D6CBC7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9525" cap="flat">
              <a:solidFill>
                <a:srgbClr val="F0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8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two headlines. One is from The Onion, one is real. Humans spot it instantly. Can a model? And more importantly: HOW does it decide? That is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Sarcasm is hard because words and meaning disagree. Our dataset hides a shortcut though: the label is the newspaper, not a human judging sarcasm. So the real question is: does the model understand sarcasm, or recognise the newspaper?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Misra News Headlines v2. Nearly balanced: 47.5% sarcastic. 80/20 split with a fixed seed, test set untouched until the end. The catch: sarcastic means The Onion, real means HuffPost.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right. Baseline: TF-IDF counts how special each word is, Logistic Regression adds up one weight per word. DistilBERT is a small BERT that already knows English; fine-tuning is two short lessons on our headlines. The same split is used for both so the comparison is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jumps from 79.7 to 92.0 percent. Note Naive Bayes and Linear SVC tied the baseline, so changing the classifier did not help. Adding context-aware language knowledge did. Errors: false alarms 542 to 200, missed sarcasm 614 to 257.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matrix: rows are the truth, columns the guess, the diagonal is correct. ROC: top-left corner is better, the diagonal is a coin flip. DistilBERT is much more confident, but confident is not the same as understanding. We test that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Logistic Regression weights are exact, one number per word. Sarcastic cues are Onion templates: area, nation, report, man. Right: LIME on DistilBERT gives a similar picture. The ablation is the proof: removing the 49 strongest words costs 3.5 points, removing 49 random words costs 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test: 24 hand-written texts. Both models get Onion-style 4 of 4. DistilBERT gets 0 of 8 on everyday sarcasm, and it is sure about it, with probabilities near 0.00. It also flagged a real headline, "Study finds...", as sarcastic because that is an Onion template. Subgroup gaps with few examples are warnings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DistilBERT wins the benchmark, so it is the best model for this dataset. Logistic Regression wins on explainability and cost. The limitations list is what makes the project honest: labels from the publication, a tiny stress test, small subgroups, one split and one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 sentence: accuracy is not understanding. Future work is mostly about better data: human-labelled sarcasm from real conversations, and a bigger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F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9786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Garamond" panose="02020404030301010803" pitchFamily="18" charset="0"/>
              </a:rPr>
              <a:t>CA3  |  NLP Mini Project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09786" y="1097280"/>
            <a:ext cx="48497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latin typeface="Garamond" panose="02020404030301010803" pitchFamily="18" charset="0"/>
              </a:rPr>
              <a:t>Sarcasm Detection Model in News Headlines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09786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Garamond" panose="02020404030301010803" pitchFamily="18" charset="0"/>
              </a:rPr>
              <a:t>Building, Auditing and Explaining a classifier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Sukriti Singh  |  PRN 25030422121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onion card"/>
          <p:cNvSpPr/>
          <p:nvPr/>
        </p:nvSpPr>
        <p:spPr>
          <a:xfrm>
            <a:off x="5486400" y="82296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960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The Onion (sarcastic)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0" y="1371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Garamond" panose="02020404030301010803" pitchFamily="18" charset="0"/>
              </a:rPr>
              <a:t>Area Man Wins Argument With Thermostat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9" name="huffpost card"/>
          <p:cNvSpPr/>
          <p:nvPr/>
        </p:nvSpPr>
        <p:spPr>
          <a:xfrm>
            <a:off x="5486400" y="265176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D8ECFF"/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2788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E7DB0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HuffPost (real)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6692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Garamond" panose="02020404030301010803" pitchFamily="18" charset="0"/>
              </a:rPr>
              <a:t>Senate Passes Bill To Expand Rural Broadband Access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Sarcasm says one thing and means another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4" name="card1"/>
          <p:cNvSpPr/>
          <p:nvPr/>
        </p:nvSpPr>
        <p:spPr>
          <a:xfrm>
            <a:off x="457200" y="118872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Meaning flips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Garamond" panose="02020404030301010803" pitchFamily="18" charset="0"/>
              </a:rPr>
              <a:t>Positive words, negative meaning: "I absolutely love being stuck in traffic".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7" name="card2"/>
          <p:cNvSpPr/>
          <p:nvPr/>
        </p:nvSpPr>
        <p:spPr>
          <a:xfrm>
            <a:off x="3246120" y="118872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Context is hidden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3429000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Garamond" panose="02020404030301010803" pitchFamily="18" charset="0"/>
              </a:rPr>
              <a:t>A joke needs tone and world knowledge that plain text rarely carries.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0" name="card3"/>
          <p:cNvSpPr/>
          <p:nvPr/>
        </p:nvSpPr>
        <p:spPr>
          <a:xfrm>
            <a:off x="6035040" y="118872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Labels can mislead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217920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Garamond" panose="02020404030301010803" pitchFamily="18" charset="0"/>
              </a:rPr>
              <a:t>In our data, label = which outlet wrote it (The Onion or HuffPost).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3" name="goal card"/>
          <p:cNvSpPr/>
          <p:nvPr/>
        </p:nvSpPr>
        <p:spPr>
          <a:xfrm>
            <a:off x="457200" y="320040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64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Our goal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85800" y="37307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Garamond" panose="02020404030301010803" pitchFamily="18" charset="0"/>
              </a:rPr>
              <a:t>Build a sarcasm classifier, then audit it: does it understand sarcasm, or does it only recognise the newspaper?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The dataset: 28,503 headlines from two newspapers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4" name="card4"/>
          <p:cNvSpPr/>
          <p:nvPr/>
        </p:nvSpPr>
        <p:spPr>
          <a:xfrm>
            <a:off x="457200" y="114300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28,503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unique headlines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7" name="card5"/>
          <p:cNvSpPr/>
          <p:nvPr/>
        </p:nvSpPr>
        <p:spPr>
          <a:xfrm>
            <a:off x="457200" y="210312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47.5%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sarcastic (balanced)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0" name="card6"/>
          <p:cNvSpPr/>
          <p:nvPr/>
        </p:nvSpPr>
        <p:spPr>
          <a:xfrm>
            <a:off x="457200" y="306324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22,802 / 5,701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008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train / test split</a:t>
            </a:r>
            <a:endParaRPr lang="en-US" sz="1200" dirty="0">
              <a:latin typeface="Garamond" panose="02020404030301010803" pitchFamily="18" charset="0"/>
            </a:endParaRPr>
          </a:p>
        </p:txBody>
      </p:sp>
      <p:pic>
        <p:nvPicPr>
          <p:cNvPr id="13" name="Class balance and headline length chart" descr="Class balance and headline length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143000"/>
            <a:ext cx="5212080" cy="175048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017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Real = blue, sarcastic = pink. Classes are balanced, so plain accuracy is a fair score. Onion headlines run slightly longer.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5" name="catch card"/>
          <p:cNvSpPr/>
          <p:nvPr/>
        </p:nvSpPr>
        <p:spPr>
          <a:xfrm>
            <a:off x="3474720" y="365760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5760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26B00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The catch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365760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Sarcastic = The Onion, real = HuffPost. The label is the outlet, not a human judgement.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3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From raw headline to a verdict: two model families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4" name="card7"/>
          <p:cNvSpPr/>
          <p:nvPr/>
        </p:nvSpPr>
        <p:spPr>
          <a:xfrm>
            <a:off x="457200" y="1097280"/>
            <a:ext cx="182880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Garamond" panose="02020404030301010803" pitchFamily="18" charset="0"/>
              </a:rPr>
              <a:t>Clean text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2286000" y="1097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Garamond" panose="02020404030301010803" pitchFamily="18" charset="0"/>
              </a:rPr>
              <a:t>&gt;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7" name="card8"/>
          <p:cNvSpPr/>
          <p:nvPr/>
        </p:nvSpPr>
        <p:spPr>
          <a:xfrm>
            <a:off x="2542032" y="1097280"/>
            <a:ext cx="1828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42032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Garamond" panose="02020404030301010803" pitchFamily="18" charset="0"/>
              </a:rPr>
              <a:t>Words to numbers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370832" y="1097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Garamond" panose="02020404030301010803" pitchFamily="18" charset="0"/>
              </a:rPr>
              <a:t>&gt;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0" name="card9"/>
          <p:cNvSpPr/>
          <p:nvPr/>
        </p:nvSpPr>
        <p:spPr>
          <a:xfrm>
            <a:off x="4626864" y="1097280"/>
            <a:ext cx="182880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26864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Garamond" panose="02020404030301010803" pitchFamily="18" charset="0"/>
              </a:rPr>
              <a:t>Train models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55664" y="1097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Garamond" panose="02020404030301010803" pitchFamily="18" charset="0"/>
              </a:rPr>
              <a:t>&gt;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3" name="card10"/>
          <p:cNvSpPr/>
          <p:nvPr/>
        </p:nvSpPr>
        <p:spPr>
          <a:xfrm>
            <a:off x="6711696" y="1097280"/>
            <a:ext cx="182880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11696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Garamond" panose="02020404030301010803" pitchFamily="18" charset="0"/>
              </a:rPr>
              <a:t>Test on unseen data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5" name="baseline card"/>
          <p:cNvSpPr/>
          <p:nvPr/>
        </p:nvSpPr>
        <p:spPr>
          <a:xfrm>
            <a:off x="457200" y="196596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E7DB0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Baseline: TF-IDF + Logistic Reg.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40080" y="25146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Lowercase, remove punctuation, lemmatize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TF-IDF: how special a word is to a headline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One readable weight per word, summed up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Naive Bayes and Linear SVC as extra baselines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C tuned by 5-fold CV on training data only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8" name="bert card"/>
          <p:cNvSpPr/>
          <p:nvPr/>
        </p:nvSpPr>
        <p:spPr>
          <a:xfrm>
            <a:off x="4663440" y="196596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Modern: fine-tuned DistilBERT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846320" y="25146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Small, fast BERT that already knows English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Reads the raw headline: word order and context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Fine-tuned for 2 epochs (about 1 minute on a T4 GPU)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A black box, so we explain it with LIME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4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DistilBERT cut the errors by more than half</a:t>
            </a:r>
            <a:endParaRPr lang="en-US" sz="2200" dirty="0">
              <a:latin typeface="Garamond" panose="02020404030301010803" pitchFamily="18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4650320"/>
              </p:ext>
            </p:extLst>
          </p:nvPr>
        </p:nvGraphicFramePr>
        <p:xfrm>
          <a:off x="365760" y="10515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11"/>
          <p:cNvSpPr/>
          <p:nvPr/>
        </p:nvSpPr>
        <p:spPr>
          <a:xfrm>
            <a:off x="5760720" y="109728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79.7% to 92.0%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594360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accuracy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8" name="card12"/>
          <p:cNvSpPr/>
          <p:nvPr/>
        </p:nvSpPr>
        <p:spPr>
          <a:xfrm>
            <a:off x="5760720" y="219456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542 to 200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943600" y="2761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real headlines wrongly flagged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1" name="card13"/>
          <p:cNvSpPr/>
          <p:nvPr/>
        </p:nvSpPr>
        <p:spPr>
          <a:xfrm>
            <a:off x="5760720" y="329184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614 to 257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5943600" y="3858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sarcastic headlines missed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576072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Garamond" panose="02020404030301010803" pitchFamily="18" charset="0"/>
              </a:rPr>
              <a:t>Naive Bayes and Linear SVC tied the baseline at 79.7%, so the gain came from context, not a fancier classifier.</a:t>
            </a:r>
            <a:endParaRPr lang="en-US" sz="105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5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Reading the evaluation charts</a:t>
            </a:r>
            <a:endParaRPr lang="en-US" sz="2200" dirty="0">
              <a:latin typeface="Garamond" panose="02020404030301010803" pitchFamily="18" charset="0"/>
            </a:endParaRPr>
          </a:p>
        </p:txBody>
      </p:sp>
      <p:pic>
        <p:nvPicPr>
          <p:cNvPr id="4" name="Confusion matrices and ROC curves" descr="Confusion matrices and ROC cur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2119611"/>
          </a:xfrm>
          <a:prstGeom prst="rect">
            <a:avLst/>
          </a:prstGeom>
        </p:spPr>
      </p:pic>
      <p:sp>
        <p:nvSpPr>
          <p:cNvPr id="5" name="card14"/>
          <p:cNvSpPr/>
          <p:nvPr/>
        </p:nvSpPr>
        <p:spPr>
          <a:xfrm>
            <a:off x="457200" y="34290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59436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Rows = truth, columns = guess. A dark diagonal means correct. DistilBERT has the darker diagonal.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8" name="card15"/>
          <p:cNvSpPr/>
          <p:nvPr/>
        </p:nvSpPr>
        <p:spPr>
          <a:xfrm>
            <a:off x="3246120" y="34290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38328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ROC curve and AUC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338328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Closer to the top-left is better. AUC 0.978 vs 0.878; 0.5 would be a coin flip.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11" name="card16"/>
          <p:cNvSpPr/>
          <p:nvPr/>
        </p:nvSpPr>
        <p:spPr>
          <a:xfrm>
            <a:off x="6035040" y="34290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7220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A caution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17220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DistilBERT is very confident, usually near 0 or 1. Confident is not the same as understanding.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6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Explainability: it learned the newspaper's habits</a:t>
            </a:r>
            <a:endParaRPr lang="en-US" sz="2200" dirty="0">
              <a:latin typeface="Garamond" panose="02020404030301010803" pitchFamily="18" charset="0"/>
            </a:endParaRPr>
          </a:p>
        </p:txBody>
      </p:sp>
      <p:pic>
        <p:nvPicPr>
          <p:cNvPr id="4" name="Logistic Regression top words" descr="Logistic Regression top wo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023360" cy="2739805"/>
          </a:xfrm>
          <a:prstGeom prst="rect">
            <a:avLst/>
          </a:prstGeom>
        </p:spPr>
      </p:pic>
      <p:pic>
        <p:nvPicPr>
          <p:cNvPr id="5" name="DistilBERT LIME global cues" descr="DistilBERT LIME global cu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51560"/>
            <a:ext cx="4023360" cy="273980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Logistic Regression (exact weights): area, nation, report, man vs queer, trump, allegedly.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466344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LIME on DistilBERT (approximate): area, man, old, report push toward sarcastic.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8" name="ablation card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Garamond" panose="02020404030301010803" pitchFamily="18" charset="0"/>
              </a:rPr>
              <a:t>Ablation proof:  </a:t>
            </a:r>
            <a:r>
              <a:rPr lang="en-US" sz="1300" dirty="0">
                <a:solidFill>
                  <a:schemeClr val="tx1"/>
                </a:solidFill>
                <a:latin typeface="Garamond" panose="02020404030301010803" pitchFamily="18" charset="0"/>
              </a:rPr>
              <a:t>remove the 49 top words: accuracy falls 3.5 points.  Remove 49 random words: only 0.2.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7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Audit: Onion style is easy, everyday sarcasm is not</a:t>
            </a:r>
            <a:endParaRPr lang="en-US" sz="2200" dirty="0">
              <a:latin typeface="Garamond" panose="02020404030301010803" pitchFamily="18" charset="0"/>
            </a:endParaRPr>
          </a:p>
        </p:txBody>
      </p:sp>
      <p:pic>
        <p:nvPicPr>
          <p:cNvPr id="4" name="Stress test accuracy by category" descr="Stress test accuracy by categ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846320" cy="1890154"/>
          </a:xfrm>
          <a:prstGeom prst="rect">
            <a:avLst/>
          </a:prstGeom>
        </p:spPr>
      </p:pic>
      <p:sp>
        <p:nvSpPr>
          <p:cNvPr id="5" name="card17"/>
          <p:cNvSpPr/>
          <p:nvPr/>
        </p:nvSpPr>
        <p:spPr>
          <a:xfrm>
            <a:off x="457200" y="3063240"/>
            <a:ext cx="155448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4/4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Onion style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8" name="card18"/>
          <p:cNvSpPr/>
          <p:nvPr/>
        </p:nvSpPr>
        <p:spPr>
          <a:xfrm>
            <a:off x="2103120" y="3063240"/>
            <a:ext cx="155448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10312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0/8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210312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Everyday sarcasm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11" name="card19"/>
          <p:cNvSpPr/>
          <p:nvPr/>
        </p:nvSpPr>
        <p:spPr>
          <a:xfrm>
            <a:off x="3749040" y="3063240"/>
            <a:ext cx="15544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74904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4/12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7490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Garamond" panose="02020404030301010803" pitchFamily="18" charset="0"/>
              </a:rPr>
              <a:t>Sarcasm caught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57200" y="4069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Garamond" panose="02020404030301010803" pitchFamily="18" charset="0"/>
              </a:rPr>
              <a:t>DistilBERT on 24 hand-written texts. Logistic Regression caught 8/12 sarcastic texts, but also flagged many sincere ones.</a:t>
            </a:r>
            <a:endParaRPr lang="en-US" sz="1100" dirty="0">
              <a:latin typeface="Garamond" panose="02020404030301010803" pitchFamily="18" charset="0"/>
            </a:endParaRPr>
          </a:p>
        </p:txBody>
      </p:sp>
      <p:sp>
        <p:nvSpPr>
          <p:cNvPr id="15" name="subgroup card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76072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E7DB0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Subgroup audit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576072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Garamond" panose="02020404030301010803" pitchFamily="18" charset="0"/>
              </a:rPr>
              <a:t>Long headlines: 92.7% vs 91.0% for short (real, small gap)</a:t>
            </a:r>
            <a:endParaRPr lang="en-US" sz="11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Garamond" panose="02020404030301010803" pitchFamily="18" charset="0"/>
              </a:rPr>
              <a:t>First-person: accuracy 94.8%, but sarcasm recall 80.4% (only 46 examples)</a:t>
            </a:r>
            <a:endParaRPr lang="en-US" sz="11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Garamond" panose="02020404030301010803" pitchFamily="18" charset="0"/>
              </a:rPr>
              <a:t>Questions: recall just 52% (23 examples)</a:t>
            </a:r>
            <a:endParaRPr lang="en-US" sz="11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Garamond" panose="02020404030301010803" pitchFamily="18" charset="0"/>
              </a:rPr>
              <a:t>Small groups are warnings, not conclusions</a:t>
            </a:r>
            <a:endParaRPr lang="en-US" sz="11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Garamond" panose="02020404030301010803" pitchFamily="18" charset="0"/>
              </a:rPr>
              <a:t>It wrongly flagged "Study finds regular exercise improves heart health": an Onion template</a:t>
            </a:r>
            <a:endParaRPr lang="en-US" sz="115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8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Garamond" panose="02020404030301010803" pitchFamily="18" charset="0"/>
              </a:rPr>
              <a:t>Best score is not the same as best understanding</a:t>
            </a:r>
            <a:endParaRPr lang="en-US" sz="2200" dirty="0">
              <a:latin typeface="Garamond" panose="02020404030301010803" pitchFamily="18" charset="0"/>
            </a:endParaRPr>
          </a:p>
        </p:txBody>
      </p:sp>
      <p:graphicFrame>
        <p:nvGraphicFramePr>
          <p:cNvPr id="10" name="verdic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252410"/>
              </p:ext>
            </p:extLst>
          </p:nvPr>
        </p:nvGraphicFramePr>
        <p:xfrm>
          <a:off x="457200" y="1097280"/>
          <a:ext cx="457200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Criterion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Logistic Reg.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DistilBERT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Test accuracy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79.7%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457B"/>
                          </a:solidFill>
                          <a:latin typeface="Garamond" panose="02020404030301010803" pitchFamily="18" charset="0"/>
                        </a:rPr>
                        <a:t>92.0%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Explainability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457B"/>
                          </a:solidFill>
                          <a:latin typeface="Garamond" panose="02020404030301010803" pitchFamily="18" charset="0"/>
                        </a:rPr>
                        <a:t>Exact weights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LIME (approximate)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Everyday sarcasm caught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8/12, many false alarms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4/12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Cost to train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457B"/>
                          </a:solidFill>
                          <a:latin typeface="Garamond" panose="02020404030301010803" pitchFamily="18" charset="0"/>
                        </a:rPr>
                        <a:t>Seconds, CPU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B2A4A"/>
                          </a:solidFill>
                          <a:latin typeface="Garamond" panose="02020404030301010803" pitchFamily="18" charset="0"/>
                        </a:rPr>
                        <a:t>About 1 min, GPU</a:t>
                      </a:r>
                      <a:endParaRPr lang="en-US" sz="11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verdict card"/>
          <p:cNvSpPr/>
          <p:nvPr/>
        </p:nvSpPr>
        <p:spPr>
          <a:xfrm>
            <a:off x="457200" y="3200400"/>
            <a:ext cx="45720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640080" y="36393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Garamond" panose="02020404030301010803" pitchFamily="18" charset="0"/>
              </a:rPr>
              <a:t>DistilBERT is best on this benchmark. Logistic Regression is best for explaining why. Neither understands everyday sarcasm.</a:t>
            </a:r>
            <a:endParaRPr lang="en-US" sz="1250" dirty="0">
              <a:latin typeface="Garamond" panose="02020404030301010803" pitchFamily="18" charset="0"/>
            </a:endParaRPr>
          </a:p>
        </p:txBody>
      </p:sp>
      <p:sp>
        <p:nvSpPr>
          <p:cNvPr id="8" name="limits card"/>
          <p:cNvSpPr/>
          <p:nvPr/>
        </p:nvSpPr>
        <p:spPr>
          <a:xfrm>
            <a:off x="5303520" y="1097280"/>
            <a:ext cx="3383280" cy="3429000"/>
          </a:xfrm>
          <a:prstGeom prst="roundRect">
            <a:avLst>
              <a:gd name="adj" fmla="val 32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26B00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3" name="Text 6"/>
          <p:cNvSpPr txBox="1"/>
          <p:nvPr/>
        </p:nvSpPr>
        <p:spPr>
          <a:xfrm>
            <a:off x="5486400" y="1600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Labels come from the publication, not human judgement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Stress test is only 24 texts, mostly not headlines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Some audit groups are small (n = 23 to 93)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One split, one seed, English only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LIME is an approximation, and noisy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9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ture card"/>
          <p:cNvSpPr/>
          <p:nvPr/>
        </p:nvSpPr>
        <p:spPr>
          <a:xfrm>
            <a:off x="457200" y="480907"/>
            <a:ext cx="3931920" cy="4045373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7814" y="7543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E7DB0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32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Train on human-labelled sarcasm (social media, e.g. Reddit SARC)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Add conversation context, not just one line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Larger stress test and several random seeds with confidence intervals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Try bigger models and remove outlet cues during training</a:t>
            </a:r>
            <a:endParaRPr lang="en-US" sz="120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Garamond" panose="02020404030301010803" pitchFamily="18" charset="0"/>
              </a:rPr>
              <a:t>Let the model say "not sure" instead of guessing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7" name="conclusion card"/>
          <p:cNvSpPr/>
          <p:nvPr/>
        </p:nvSpPr>
        <p:spPr>
          <a:xfrm>
            <a:off x="4572000" y="480907"/>
            <a:ext cx="4114800" cy="4045373"/>
          </a:xfrm>
          <a:prstGeom prst="roundRect">
            <a:avLst>
              <a:gd name="adj" fmla="val 32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77080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754880" y="16459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Garamond" panose="02020404030301010803" pitchFamily="18" charset="0"/>
              </a:rPr>
              <a:t>DistilBERT beats the baseline: 92.0% vs 79.7% accuracy</a:t>
            </a:r>
            <a:endParaRPr lang="en-US" sz="12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Garamond" panose="02020404030301010803" pitchFamily="18" charset="0"/>
              </a:rPr>
              <a:t>But its top cues are Onion templates (area, man, report)</a:t>
            </a:r>
            <a:endParaRPr lang="en-US" sz="12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Garamond" panose="02020404030301010803" pitchFamily="18" charset="0"/>
              </a:rPr>
              <a:t>On everyday sarcasm it scored 0 of 8</a:t>
            </a:r>
            <a:endParaRPr lang="en-US" sz="1250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Garamond" panose="02020404030301010803" pitchFamily="18" charset="0"/>
              </a:rPr>
              <a:t>The audit, not the accuracy, is the real finding</a:t>
            </a:r>
            <a:endParaRPr lang="en-US" sz="125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754880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Garamond" panose="02020404030301010803" pitchFamily="18" charset="0"/>
                <a:ea typeface="Trebuchet MS" pitchFamily="34" charset="-122"/>
                <a:cs typeface="Trebuchet MS" pitchFamily="34" charset="-120"/>
              </a:rPr>
              <a:t>Accuracy is not understanding.</a:t>
            </a:r>
            <a:endParaRPr lang="en-US" sz="1800" dirty="0">
              <a:latin typeface="Garamond" panose="020204040303010108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Garamond" panose="02020404030301010803" pitchFamily="18" charset="0"/>
              </a:rPr>
              <a:t>10</a:t>
            </a:fld>
            <a:endParaRPr 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453B-8A23-974C-039B-3F25F0309A0A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1625307" y="1650669"/>
            <a:ext cx="5893386" cy="1167464"/>
          </a:xfrm>
        </p:spPr>
        <p:txBody>
          <a:bodyPr/>
          <a:lstStyle/>
          <a:p>
            <a:r>
              <a:rPr lang="en-IN" sz="8900" dirty="0">
                <a:latin typeface="Garamond" panose="020204040303010108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66538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stel Sarcasm">
  <a:themeElements>
    <a:clrScheme name="Pastel Sarcasm">
      <a:dk1>
        <a:srgbClr val="3B2A4A"/>
      </a:dk1>
      <a:lt1>
        <a:srgbClr val="FFF8FB"/>
      </a:lt1>
      <a:dk2>
        <a:srgbClr val="7C6B8C"/>
      </a:dk2>
      <a:lt2>
        <a:srgbClr val="EFE9FF"/>
      </a:lt2>
      <a:accent1>
        <a:srgbClr val="E0457B"/>
      </a:accent1>
      <a:accent2>
        <a:srgbClr val="6BA6D6"/>
      </a:accent2>
      <a:accent3>
        <a:srgbClr val="DDF5EA"/>
      </a:accent3>
      <a:accent4>
        <a:srgbClr val="FFD9E6"/>
      </a:accent4>
      <a:accent5>
        <a:srgbClr val="FFE9C9"/>
      </a:accent5>
      <a:accent6>
        <a:srgbClr val="B9A6E8"/>
      </a:accent6>
      <a:hlink>
        <a:srgbClr val="6BA6D6"/>
      </a:hlink>
      <a:folHlink>
        <a:srgbClr val="B9A6E8"/>
      </a:folHlink>
    </a:clrScheme>
    <a:fontScheme name="Pastel Sarcasm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1339</Words>
  <Application>Microsoft Office PowerPoint</Application>
  <PresentationFormat>On-screen Show (16:9)</PresentationFormat>
  <Paragraphs>146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Garamond</vt:lpstr>
      <vt:lpstr>Pastel Sarcasm</vt:lpstr>
      <vt:lpstr>PowerPoint Presentation</vt:lpstr>
      <vt:lpstr>Sarcasm says one thing and means another</vt:lpstr>
      <vt:lpstr>The dataset: 28,503 headlines from two newspapers</vt:lpstr>
      <vt:lpstr>From raw headline to a verdict: two model families</vt:lpstr>
      <vt:lpstr>DistilBERT cut the errors by more than half</vt:lpstr>
      <vt:lpstr>Reading the evaluation charts</vt:lpstr>
      <vt:lpstr>Explainability: it learned the newspaper's habits</vt:lpstr>
      <vt:lpstr>Audit: Onion style is easy, everyday sarcasm is not</vt:lpstr>
      <vt:lpstr>Best score is not the same as best understanding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Sarcasm Detection in News Headlines</dc:title>
  <dc:subject>PptxGenJS Presentation</dc:subject>
  <dc:creator>Sukriti Singh</dc:creator>
  <cp:lastModifiedBy>Sukriti Singh</cp:lastModifiedBy>
  <cp:revision>3</cp:revision>
  <dcterms:created xsi:type="dcterms:W3CDTF">2026-10-09T19:35:53Z</dcterms:created>
  <dcterms:modified xsi:type="dcterms:W3CDTF">2026-10-09T20:01:59Z</dcterms:modified>
</cp:coreProperties>
</file>